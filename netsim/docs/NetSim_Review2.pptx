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1F5F9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1F5F9"/>
                </a:solidFill>
                <a:latin typeface="Arial"/>
              </a:rPr>
              <a:t>Packet delivery ratio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PDR (%)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1F5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Normal</c:v>
                  </c:pt>
                  <c:pt idx="1">
                    <c:v>Heavy</c:v>
                  </c:pt>
                  <c:pt idx="2">
                    <c:v>TCP vs UDP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44.4</c:v>
                </c:pt>
                <c:pt idx="2">
                  <c:v>57.1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1F5F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2B456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6C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1F5F9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1F5F9"/>
                </a:solidFill>
                <a:latin typeface="Arial"/>
              </a:rPr>
              <a:t>Latency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1F5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Normal</c:v>
                  </c:pt>
                  <c:pt idx="1">
                    <c:v>Heavy</c:v>
                  </c:pt>
                  <c:pt idx="2">
                    <c:v>TCP vs UDP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18.7</c:v>
                </c:pt>
                <c:pt idx="1">
                  <c:v>226</c:v>
                </c:pt>
                <c:pt idx="2">
                  <c:v>156.7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1F5F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B456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6C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A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0"/>
                </a:solidFill>
              </a:rPr>
              <a:t>BCSE308P · Network Traffic &amp; Routing Simulator · Review 2 (65–70%)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A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B2D"/>
                </a:solidFill>
              </a:rPr>
              <a:t>65–70% MILESTONE · REVIEW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1F5F9"/>
                </a:solidFill>
              </a:rPr>
              <a:t>Network Traffic &amp; Routing Simulator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918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B4E0"/>
                </a:solidFill>
              </a:rPr>
              <a:t>Interactive simulation of routing, traffic flow and network performance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976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Computer Networks Lab — BCSE308P  |  Slot F2 + TF2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Review 2 · Working Prototype Demonstration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57784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577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B2D"/>
                </a:solidFill>
              </a:rPr>
              <a:t>24BCT0053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40280" y="557784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40280" y="5577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B2D"/>
                </a:solidFill>
              </a:rPr>
              <a:t>24BAI0328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0" y="557784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0" y="5577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B2D"/>
                </a:solidFill>
              </a:rPr>
              <a:t>24BAI0337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40680" y="557784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40680" y="5577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B2D"/>
                </a:solidFill>
              </a:rPr>
              <a:t>24BCE0870</a:t>
            </a:r>
            <a:endParaRPr lang="en-US" sz="1400" dirty="0"/>
          </a:p>
        </p:txBody>
      </p:sp>
      <p:pic>
        <p:nvPicPr>
          <p:cNvPr id="15" name="Image 0" descr="cv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371600"/>
            <a:ext cx="4297680" cy="2595799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498080" y="4206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0"/>
                </a:solidFill>
              </a:rPr>
              <a:t>Live run: heavy traffic, queue full, packet drop</a:t>
            </a:r>
            <a:endParaRPr lang="en-US" sz="1100" dirty="0"/>
          </a:p>
        </p:txBody>
      </p:sp>
      <p:pic>
        <p:nvPicPr>
          <p:cNvPr id="17" name="Image 1" descr="ch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572000"/>
            <a:ext cx="4297680" cy="8165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→ Review 2: What Changed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About 30% → about 65–70% of the project is now working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72768"/>
            <a:ext cx="3200400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64748B"/>
                </a:solidFill>
              </a:rPr>
              <a:t>Done at Review 1 (30%)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Requirements and blueprint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Adjacency list + matrix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Dijkstra shortest path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Node-placement canvas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GUI skeleton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1463040"/>
            <a:ext cx="7406640" cy="4480560"/>
          </a:xfrm>
          <a:prstGeom prst="roundRect">
            <a:avLst>
              <a:gd name="adj" fmla="val 204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0" y="1572768"/>
            <a:ext cx="7040880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34D399"/>
                </a:solidFill>
              </a:rPr>
              <a:t>Built since Review 1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011680"/>
            <a:ext cx="6949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1B2D"/>
                </a:solidFill>
              </a:rPr>
              <a:t>Bellman-Ford routing + live Dijkstra vs Bellman-Ford benchmark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1B2D"/>
                </a:solidFill>
              </a:rPr>
              <a:t>3 cost modes: Weight, Hop Count, Dynamic (queue-aware)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1B2D"/>
                </a:solidFill>
              </a:rPr>
              <a:t>Traffic generator: CBR, Bursty, TCP, Poisson (up to 64 flows)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1B2D"/>
                </a:solidFill>
              </a:rPr>
              <a:t>Per-link FIFO queues with buffer limit, tail-drop and packet loss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1B2D"/>
                </a:solidFill>
              </a:rPr>
              <a:t>Packet animation with drop alerts on nodes and links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1B2D"/>
                </a:solidFill>
              </a:rPr>
              <a:t>TCP-like congestion window (cwnd) tracking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1B2D"/>
                </a:solidFill>
              </a:rPr>
              <a:t>Live telemetry: latency, throughput, queue depth, cwnd, per-flow PDR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1B2D"/>
                </a:solidFill>
              </a:rPr>
              <a:t>6 preset scenarios, Save/Load topology, CSV export, snapshots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0"/>
                </a:solidFill>
              </a:rPr>
              <a:t>Weight edit with live recompute (in progress at Review 1) is now part of the working editor.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Overview: The Working Simulator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One window: topology canvas, control panel, live charts and status bar</a:t>
            </a:r>
            <a:endParaRPr lang="en-US" sz="1600" dirty="0"/>
          </a:p>
        </p:txBody>
      </p:sp>
      <p:pic>
        <p:nvPicPr>
          <p:cNvPr id="4" name="Image 0" descr="full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223760" cy="459771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0350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0"/>
                </a:solidFill>
              </a:rPr>
              <a:t>Normal-traffic run: 70 sent, 70 received, PDR 100%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955280" y="1371600"/>
            <a:ext cx="3749040" cy="987552"/>
          </a:xfrm>
          <a:prstGeom prst="roundRect">
            <a:avLst>
              <a:gd name="adj" fmla="val 925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38160" y="1481328"/>
            <a:ext cx="3383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E7490"/>
                </a:solidFill>
              </a:rPr>
              <a:t>Canvas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Click to add nodes/links, drag to move, right-click to set SRC/DST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55280" y="2468880"/>
            <a:ext cx="3749040" cy="987552"/>
          </a:xfrm>
          <a:prstGeom prst="roundRect">
            <a:avLst>
              <a:gd name="adj" fmla="val 925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2578608"/>
            <a:ext cx="3383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E7490"/>
                </a:solidFill>
              </a:rPr>
              <a:t>Control tabs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Controls · Elements · Routing · Logs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955280" y="3566160"/>
            <a:ext cx="3749040" cy="987552"/>
          </a:xfrm>
          <a:prstGeom prst="roundRect">
            <a:avLst>
              <a:gd name="adj" fmla="val 925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38160" y="3675888"/>
            <a:ext cx="3383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E7490"/>
                </a:solidFill>
              </a:rPr>
              <a:t>Live charts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5 real-time panels along the bottom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955280" y="4663440"/>
            <a:ext cx="3749040" cy="987552"/>
          </a:xfrm>
          <a:prstGeom prst="roundRect">
            <a:avLst>
              <a:gd name="adj" fmla="val 925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38160" y="4773168"/>
            <a:ext cx="3383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E7490"/>
                </a:solidFill>
              </a:rPr>
              <a:t>Status bar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Time, algorithm, PDR, flows, in-flight, sent/recv/drops, RTT, active path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5852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0"/>
                </a:solidFill>
              </a:rPr>
              <a:t>Shortcuts: Space = run/pause · F = fail link · Del = delete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Topology → Routing → Traffic → Telemetry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Module pipeline from Review 1, now fully populated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737360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645920"/>
            <a:ext cx="1517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B2D"/>
                </a:solidFill>
              </a:rPr>
              <a:t>Topology Canvas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Nodes, links, weights, drag and edit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176272" y="21945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359152" y="1554480"/>
            <a:ext cx="1737360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80" y="1645920"/>
            <a:ext cx="1517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B2D"/>
                </a:solidFill>
              </a:rPr>
              <a:t>Graph Model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Adjacency list + cost matrix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078224" y="21945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61104" y="1554480"/>
            <a:ext cx="1737360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70832" y="1645920"/>
            <a:ext cx="1517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B2D"/>
                </a:solidFill>
              </a:rPr>
              <a:t>Routing Engine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Dijkstra, Bellman-Ford, 3 cost modes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80176" y="21945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63056" y="1554480"/>
            <a:ext cx="1737360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72784" y="1645920"/>
            <a:ext cx="1517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B2D"/>
                </a:solidFill>
              </a:rPr>
              <a:t>Traffic Engine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CBR, Bursty, TCP, Poisson flows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882128" y="21945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65008" y="1554480"/>
            <a:ext cx="1737360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74736" y="1645920"/>
            <a:ext cx="1517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B2D"/>
                </a:solidFill>
              </a:rPr>
              <a:t>Queue &amp; Packet Engine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Link queues, tail-drop, loss, animation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784080" y="21945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966960" y="1554480"/>
            <a:ext cx="1737360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76688" y="1645920"/>
            <a:ext cx="1517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B2D"/>
                </a:solidFill>
              </a:rPr>
              <a:t>Telemetry &amp; Analytics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Latency, throughput, PDR, queue, cwnd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DATA MODEL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133088"/>
            <a:ext cx="329184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E7490"/>
                </a:solidFill>
              </a:rPr>
              <a:t>Node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ID, position, role (SRC / DST / router), state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97680" y="402336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0560" y="4133088"/>
            <a:ext cx="329184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E7490"/>
                </a:solidFill>
              </a:rPr>
              <a:t>Link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Weight, bandwidth, delay, loss, queue K, up/down state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38160" y="402336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21040" y="4133088"/>
            <a:ext cx="320040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E7490"/>
                </a:solidFill>
              </a:rPr>
              <a:t>Flow / Packet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Source, destination, protocol, rate, size, start/stop, timestamps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Editor &amp; Graph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Build any network graph, edit it live, save and reload</a:t>
            </a:r>
            <a:endParaRPr lang="en-US" sz="1600" dirty="0"/>
          </a:p>
        </p:txBody>
      </p:sp>
      <p:pic>
        <p:nvPicPr>
          <p:cNvPr id="4" name="Image 0" descr="pn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017520" cy="432279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806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0"/>
                </a:solidFill>
              </a:rPr>
              <a:t>Elements tab: inspector + flow generator</a:t>
            </a:r>
            <a:endParaRPr lang="en-US" sz="1100" dirty="0"/>
          </a:p>
        </p:txBody>
      </p:sp>
      <p:pic>
        <p:nvPicPr>
          <p:cNvPr id="6" name="Image 1" descr="pn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0"/>
            <a:ext cx="3017520" cy="432279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749040" y="5806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0"/>
                </a:solidFill>
              </a:rPr>
              <a:t>Routing tab: adjacency list + cost matrix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7132320" y="1463040"/>
            <a:ext cx="4572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Click empty canvas to add a node; click two nodes to link them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Drag to move; Del removes; F fails or restores a link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Inspector edits weight, bandwidth, delay, loss and queue size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Adjacency list and cost matrix update live (∞ = no link)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Save Topo / Load Topo to topologies/session.topo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Sample: 4-node loop and 8-node mesh topologies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Engine: Link-State vs Distance-Vector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Both algorithms implemented and switchable at runtime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81328"/>
            <a:ext cx="32918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5803D"/>
                </a:solidFill>
              </a:rPr>
              <a:t>Dijkstra — Link-State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Global topology, priority queue, O((V+E) log V). Settled 4 nodes on the demo graph.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950208"/>
            <a:ext cx="32918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D4ED8"/>
                </a:solidFill>
              </a:rPr>
              <a:t>Bellman-Ford — Distance-Vector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Iterative edge relaxation, O(VE), negative-cycle detection. Converged in 2 iterations.</a:t>
            </a:r>
            <a:endParaRPr lang="en-US" sz="1600" dirty="0"/>
          </a:p>
        </p:txBody>
      </p:sp>
      <p:pic>
        <p:nvPicPr>
          <p:cNvPr id="8" name="Image 0" descr="pn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371600"/>
            <a:ext cx="3108960" cy="44537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389120" y="5897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0"/>
                </a:solidFill>
              </a:rPr>
              <a:t>Live benchmark panel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863840" y="137160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46720" y="1481328"/>
            <a:ext cx="34747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E7490"/>
                </a:solidFill>
              </a:rPr>
              <a:t>3 cost modes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Weight — administrative link weights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Hop Count — fewest hops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Dynamic — queue backlog + latency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863840" y="384048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0" y="3950208"/>
            <a:ext cx="347472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45309"/>
                </a:solidFill>
              </a:rPr>
              <a:t>Automatic recompute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Any weight edit, link failure or mode change triggers a new route, highlighted in orange on the canvas.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vs Bellman-Ford: Measured Results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4-node topology, source 0 → destination 2, Weight mode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1B2D"/>
                          </a:solidFill>
                        </a:rPr>
                        <a:t>Metric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1B2D"/>
                          </a:solidFill>
                        </a:rPr>
                        <a:t>Dijkstra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1B2D"/>
                          </a:solidFill>
                        </a:rPr>
                        <a:t>Bellman-Ford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F3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Path cost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2.000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2.000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Route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0 → 1 → 2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0 → 1 → 2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Algorithm work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4 nodes settled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2 iterations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Execution time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2 µs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1 µs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1480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Both give identical cost and route, which cross-validates the two implementations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Cheaper path 0→1→2 (cost 2) beats the direct link (weight 10)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Timings are microseconds on a 4-node graph; differences matter only at scale</a:t>
            </a:r>
            <a:endParaRPr lang="en-US" sz="1500" dirty="0"/>
          </a:p>
        </p:txBody>
      </p:sp>
      <p:pic>
        <p:nvPicPr>
          <p:cNvPr id="6" name="Image 0" descr="cv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371600"/>
            <a:ext cx="4754880" cy="28719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792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0"/>
                </a:solidFill>
              </a:rPr>
              <a:t>8-node mesh, Bellman-Ford, Dynamic mode: path 0→1→2→7, cost 18.0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217920" y="470916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0" y="4818888"/>
            <a:ext cx="51206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E7490"/>
                </a:solidFill>
              </a:rPr>
              <a:t>Scales beyond the demo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The 8-node mesh with weights 1–4 shows the same engine routing across a larger graph (algorithm_compare scenario).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Generator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Create synthetic workloads from the GUI and run them concurrently</a:t>
            </a:r>
            <a:endParaRPr lang="en-US" sz="1600" dirty="0"/>
          </a:p>
        </p:txBody>
      </p:sp>
      <p:pic>
        <p:nvPicPr>
          <p:cNvPr id="4" name="Image 0" descr="pn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108960" cy="44537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897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0"/>
                </a:solidFill>
              </a:rPr>
              <a:t>Traffic Flow Generator (Elements tab)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31920" y="1371600"/>
            <a:ext cx="3749040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0" y="1481328"/>
            <a:ext cx="3383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E7490"/>
                </a:solidFill>
              </a:rPr>
              <a:t>CBR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Constant bit rate at fixed packet size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863840" y="1371600"/>
            <a:ext cx="3749040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0" y="1481328"/>
            <a:ext cx="3383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E7490"/>
                </a:solidFill>
              </a:rPr>
              <a:t>Bursty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ON/OFF bursts that stress the queues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931920" y="2788920"/>
            <a:ext cx="3749040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0" y="2898648"/>
            <a:ext cx="3383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E7490"/>
                </a:solidFill>
              </a:rPr>
              <a:t>TCP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Window-based flow with cwnd growth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863840" y="2788920"/>
            <a:ext cx="3749040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0" y="2898648"/>
            <a:ext cx="3383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E7490"/>
                </a:solidFill>
              </a:rPr>
              <a:t>Poisson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Random arrivals; basis for M/M/1 queueing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931920" y="438912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Parameters per flow: source, destination, rate, packet size, start and stop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Up to 64 flows configured at once (3 active in the screenshot)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Flows are injected live and appear in the per-flow PDR chart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Movement, Queueing and Loss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Every link has a finite FIFO buffer; congestion becomes visible</a:t>
            </a:r>
            <a:endParaRPr lang="en-US" sz="1600" dirty="0"/>
          </a:p>
        </p:txBody>
      </p:sp>
      <p:pic>
        <p:nvPicPr>
          <p:cNvPr id="4" name="Image 0" descr="cv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949440" cy="419746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6235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0"/>
                </a:solidFill>
              </a:rPr>
              <a:t>TCP vs UDP run: queue 14/15 on link 0–1, packets in flight, DROP flash at node 0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1463040"/>
            <a:ext cx="4023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Packets animate hop by hop along the active route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Queue label q:used/K on every link (e.g. q:14/15)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Buffer full → tail-drop; node flashes DROP in red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Link loss rate adds random drops (Loss scenario)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Service time = size×8 / bandwidth, plus propagation delay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Link colour shifts from green to red as load grows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&amp; Live Analytics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Five real-time panels plus a status bar, all computed from the simulation</a:t>
            </a:r>
            <a:endParaRPr lang="en-US" sz="1600" dirty="0"/>
          </a:p>
        </p:txBody>
      </p:sp>
      <p:pic>
        <p:nvPicPr>
          <p:cNvPr id="4" name="Image 0" descr="ch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315200" cy="13898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834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0"/>
                </a:solidFill>
              </a:rPr>
              <a:t>Live charts during TCP vs UDP: latency, throughput, queue depth, cwnd, per-flow PDR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3383280"/>
            <a:ext cx="2331720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493008"/>
            <a:ext cx="19659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E7490"/>
                </a:solidFill>
              </a:rPr>
              <a:t>Latency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End-to-end delay (ms)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26080" y="3383280"/>
            <a:ext cx="2331720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108960" y="3493008"/>
            <a:ext cx="19659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E7490"/>
                </a:solidFill>
              </a:rPr>
              <a:t>Throughput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Delivered data rate (kbps)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394960" y="3383280"/>
            <a:ext cx="2331720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77840" y="3493008"/>
            <a:ext cx="19659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E7490"/>
                </a:solidFill>
              </a:rPr>
              <a:t>Queue depth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Average packets waiting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4754880"/>
            <a:ext cx="2331720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4864608"/>
            <a:ext cx="19659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E7490"/>
                </a:solidFill>
              </a:rPr>
              <a:t>TCP cwnd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Congestion window (pkts)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926080" y="4754880"/>
            <a:ext cx="2331720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108960" y="4864608"/>
            <a:ext cx="19659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E7490"/>
                </a:solidFill>
              </a:rPr>
              <a:t>Flow PDR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Delivered ÷ sent × 100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046720" y="137160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0" y="1481328"/>
            <a:ext cx="3291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E7490"/>
                </a:solidFill>
              </a:rPr>
              <a:t>Status bar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Time · algorithm · PDR · flows · in-flight · sent · recv · drops · RTT · active path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046720" y="3657600"/>
            <a:ext cx="3657600" cy="2468880"/>
          </a:xfrm>
          <a:prstGeom prst="roundRect">
            <a:avLst>
              <a:gd name="adj" fmla="val 370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0" y="3767328"/>
            <a:ext cx="329184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E7490"/>
                </a:solidFill>
              </a:rPr>
              <a:t>Export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Export CSV writes results_live.csv for offline analysis; Snapshot saves a screenshot.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1: Normal Traffic (Baseline)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Light load on path 0 → 2, Dijkstra, Hop Count, buffer 50</a:t>
            </a:r>
            <a:endParaRPr lang="en-US" sz="1600" dirty="0"/>
          </a:p>
        </p:txBody>
      </p:sp>
      <p:pic>
        <p:nvPicPr>
          <p:cNvPr id="4" name="Image 0" descr="cv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4242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0"/>
                </a:solidFill>
              </a:rPr>
              <a:t>t = 8.0 s: all packets delivered</a:t>
            </a:r>
            <a:endParaRPr lang="en-US" sz="1100" dirty="0"/>
          </a:p>
        </p:txBody>
      </p:sp>
      <p:pic>
        <p:nvPicPr>
          <p:cNvPr id="6" name="Image 1" descr="ch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166360"/>
            <a:ext cx="5852160" cy="111191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223760" y="1371600"/>
            <a:ext cx="2194560" cy="1051560"/>
          </a:xfrm>
          <a:prstGeom prst="roundRect">
            <a:avLst>
              <a:gd name="adj" fmla="val 8696"/>
            </a:avLst>
          </a:prstGeom>
          <a:solidFill>
            <a:srgbClr val="12263B"/>
          </a:solidFill>
          <a:ln w="12700">
            <a:solidFill>
              <a:srgbClr val="2B456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223760" y="14447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</a:rPr>
              <a:t>100%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722376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0"/>
                </a:solidFill>
              </a:rPr>
              <a:t>PDR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9509760" y="1371600"/>
            <a:ext cx="2194560" cy="1051560"/>
          </a:xfrm>
          <a:prstGeom prst="roundRect">
            <a:avLst>
              <a:gd name="adj" fmla="val 8696"/>
            </a:avLst>
          </a:prstGeom>
          <a:solidFill>
            <a:srgbClr val="12263B"/>
          </a:solidFill>
          <a:ln w="12700">
            <a:solidFill>
              <a:srgbClr val="2B456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509760" y="14447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</a:rPr>
              <a:t>140/140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950976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0"/>
                </a:solidFill>
              </a:rPr>
              <a:t>received / sent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223760" y="2606040"/>
            <a:ext cx="2194560" cy="1051560"/>
          </a:xfrm>
          <a:prstGeom prst="roundRect">
            <a:avLst>
              <a:gd name="adj" fmla="val 8696"/>
            </a:avLst>
          </a:prstGeom>
          <a:solidFill>
            <a:srgbClr val="12263B"/>
          </a:solidFill>
          <a:ln w="12700">
            <a:solidFill>
              <a:srgbClr val="2B456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223760" y="26791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18.7 ms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722376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0"/>
                </a:solidFill>
              </a:rPr>
              <a:t>RTT / latency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509760" y="2606040"/>
            <a:ext cx="2194560" cy="1051560"/>
          </a:xfrm>
          <a:prstGeom prst="roundRect">
            <a:avLst>
              <a:gd name="adj" fmla="val 8696"/>
            </a:avLst>
          </a:prstGeom>
          <a:solidFill>
            <a:srgbClr val="12263B"/>
          </a:solidFill>
          <a:ln w="12700">
            <a:solidFill>
              <a:srgbClr val="2B456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509760" y="26791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</a:rPr>
              <a:t>0</a:t>
            </a:r>
            <a:endParaRPr lang="en-US" sz="2800" dirty="0"/>
          </a:p>
        </p:txBody>
      </p:sp>
      <p:sp>
        <p:nvSpPr>
          <p:cNvPr id="18" name="Text 14"/>
          <p:cNvSpPr txBox="1"/>
          <p:nvPr/>
        </p:nvSpPr>
        <p:spPr>
          <a:xfrm>
            <a:off x="950976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0"/>
                </a:solidFill>
              </a:rPr>
              <a:t>drops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223760" y="402336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Latency stays flat near 19 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Queue depth stays near zero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No packet loss, so this is the reference for the other scenarios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2: Heavy Traffic (Congestion)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3 concurrent flows over path 0 → 2, Bellman-Ford, Hop Count, buffer 8</a:t>
            </a:r>
            <a:endParaRPr lang="en-US" sz="1600" dirty="0"/>
          </a:p>
        </p:txBody>
      </p:sp>
      <p:pic>
        <p:nvPicPr>
          <p:cNvPr id="4" name="Image 0" descr="cv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4242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0"/>
                </a:solidFill>
              </a:rPr>
              <a:t>t = 3.1 s: link 0–2 queue at q:8/8, DROP at source</a:t>
            </a:r>
            <a:endParaRPr lang="en-US" sz="1100" dirty="0"/>
          </a:p>
        </p:txBody>
      </p:sp>
      <p:pic>
        <p:nvPicPr>
          <p:cNvPr id="6" name="Image 1" descr="ch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166360"/>
            <a:ext cx="5852160" cy="111191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223760" y="1371600"/>
            <a:ext cx="2194560" cy="1051560"/>
          </a:xfrm>
          <a:prstGeom prst="roundRect">
            <a:avLst>
              <a:gd name="adj" fmla="val 8696"/>
            </a:avLst>
          </a:prstGeom>
          <a:solidFill>
            <a:srgbClr val="12263B"/>
          </a:solidFill>
          <a:ln w="12700">
            <a:solidFill>
              <a:srgbClr val="2B456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223760" y="14447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44.4%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722376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0"/>
                </a:solidFill>
              </a:rPr>
              <a:t>PDR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9509760" y="1371600"/>
            <a:ext cx="2194560" cy="1051560"/>
          </a:xfrm>
          <a:prstGeom prst="roundRect">
            <a:avLst>
              <a:gd name="adj" fmla="val 8696"/>
            </a:avLst>
          </a:prstGeom>
          <a:solidFill>
            <a:srgbClr val="12263B"/>
          </a:solidFill>
          <a:ln w="12700">
            <a:solidFill>
              <a:srgbClr val="2B456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509760" y="14447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149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950976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0"/>
                </a:solidFill>
              </a:rPr>
              <a:t>packets dropped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223760" y="2606040"/>
            <a:ext cx="2194560" cy="1051560"/>
          </a:xfrm>
          <a:prstGeom prst="roundRect">
            <a:avLst>
              <a:gd name="adj" fmla="val 8696"/>
            </a:avLst>
          </a:prstGeom>
          <a:solidFill>
            <a:srgbClr val="12263B"/>
          </a:solidFill>
          <a:ln w="12700">
            <a:solidFill>
              <a:srgbClr val="2B456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223760" y="26791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226 ms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722376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0"/>
                </a:solidFill>
              </a:rPr>
              <a:t>latency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509760" y="2606040"/>
            <a:ext cx="2194560" cy="1051560"/>
          </a:xfrm>
          <a:prstGeom prst="roundRect">
            <a:avLst>
              <a:gd name="adj" fmla="val 8696"/>
            </a:avLst>
          </a:prstGeom>
          <a:solidFill>
            <a:srgbClr val="12263B"/>
          </a:solidFill>
          <a:ln w="12700">
            <a:solidFill>
              <a:srgbClr val="2B456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509760" y="26791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</a:rPr>
              <a:t>126/284</a:t>
            </a:r>
            <a:endParaRPr lang="en-US" sz="2800" dirty="0"/>
          </a:p>
        </p:txBody>
      </p:sp>
      <p:sp>
        <p:nvSpPr>
          <p:cNvPr id="18" name="Text 14"/>
          <p:cNvSpPr txBox="1"/>
          <p:nvPr/>
        </p:nvSpPr>
        <p:spPr>
          <a:xfrm>
            <a:off x="950976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0"/>
                </a:solidFill>
              </a:rPr>
              <a:t>received / sent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223760" y="402336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Latency rises about 12× versus the baseline (226 ms vs 18.7 ms)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Bottleneck queue is full, so excess packets are tail-dropped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Per-flow PDR: F0 31%, F1 36%, F2 100%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3: TCP vs UDP Competing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Two flows share the 0 → 1 → 2 path, Dijkstra, Weight mode, buffer 15</a:t>
            </a:r>
            <a:endParaRPr lang="en-US" sz="1600" dirty="0"/>
          </a:p>
        </p:txBody>
      </p:sp>
      <p:pic>
        <p:nvPicPr>
          <p:cNvPr id="4" name="Image 0" descr="cv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4242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0"/>
                </a:solidFill>
              </a:rPr>
              <a:t>t = 0.8 s: queue 14/15 on link 0–1</a:t>
            </a:r>
            <a:endParaRPr lang="en-US" sz="1100" dirty="0"/>
          </a:p>
        </p:txBody>
      </p:sp>
      <p:pic>
        <p:nvPicPr>
          <p:cNvPr id="6" name="Image 1" descr="ch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166360"/>
            <a:ext cx="5852160" cy="111191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223760" y="1371600"/>
            <a:ext cx="2194560" cy="1051560"/>
          </a:xfrm>
          <a:prstGeom prst="roundRect">
            <a:avLst>
              <a:gd name="adj" fmla="val 8696"/>
            </a:avLst>
          </a:prstGeom>
          <a:solidFill>
            <a:srgbClr val="12263B"/>
          </a:solidFill>
          <a:ln w="12700">
            <a:solidFill>
              <a:srgbClr val="2B456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223760" y="14447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57.1%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722376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0"/>
                </a:solidFill>
              </a:rPr>
              <a:t>PDR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9509760" y="1371600"/>
            <a:ext cx="2194560" cy="1051560"/>
          </a:xfrm>
          <a:prstGeom prst="roundRect">
            <a:avLst>
              <a:gd name="adj" fmla="val 8696"/>
            </a:avLst>
          </a:prstGeom>
          <a:solidFill>
            <a:srgbClr val="12263B"/>
          </a:solidFill>
          <a:ln w="12700">
            <a:solidFill>
              <a:srgbClr val="2B456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509760" y="14447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</a:rPr>
              <a:t>16.55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950976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0"/>
                </a:solidFill>
              </a:rPr>
              <a:t>cwnd (pkts)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223760" y="2606040"/>
            <a:ext cx="2194560" cy="1051560"/>
          </a:xfrm>
          <a:prstGeom prst="roundRect">
            <a:avLst>
              <a:gd name="adj" fmla="val 8696"/>
            </a:avLst>
          </a:prstGeom>
          <a:solidFill>
            <a:srgbClr val="12263B"/>
          </a:solidFill>
          <a:ln w="12700">
            <a:solidFill>
              <a:srgbClr val="2B456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223760" y="26791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156.7 ms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722376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0"/>
                </a:solidFill>
              </a:rPr>
              <a:t>latency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509760" y="2606040"/>
            <a:ext cx="2194560" cy="1051560"/>
          </a:xfrm>
          <a:prstGeom prst="roundRect">
            <a:avLst>
              <a:gd name="adj" fmla="val 8696"/>
            </a:avLst>
          </a:prstGeom>
          <a:solidFill>
            <a:srgbClr val="12263B"/>
          </a:solidFill>
          <a:ln w="12700">
            <a:solidFill>
              <a:srgbClr val="2B456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509760" y="26791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</a:rPr>
              <a:t>240</a:t>
            </a:r>
            <a:endParaRPr lang="en-US" sz="2800" dirty="0"/>
          </a:p>
        </p:txBody>
      </p:sp>
      <p:sp>
        <p:nvSpPr>
          <p:cNvPr id="18" name="Text 14"/>
          <p:cNvSpPr txBox="1"/>
          <p:nvPr/>
        </p:nvSpPr>
        <p:spPr>
          <a:xfrm>
            <a:off x="950976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0"/>
                </a:solidFill>
              </a:rPr>
              <a:t>throughput (kbps)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223760" y="402336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TCP congestion window grows steadily while the queue fills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Per-flow PDR: F0 55%, F1 59%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Shows how competing flows share a bottleneck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All numbers read from the live simulator runs shown in the previous slides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651760"/>
                <a:gridCol w="1097280"/>
                <a:gridCol w="1097280"/>
                <a:gridCol w="1097280"/>
                <a:gridCol w="1371600"/>
                <a:gridCol w="1920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1B2D"/>
                          </a:solidFill>
                        </a:rPr>
                        <a:t>Scenario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1B2D"/>
                          </a:solidFill>
                        </a:rPr>
                        <a:t>Algorithm / cost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1B2D"/>
                          </a:solidFill>
                        </a:rPr>
                        <a:t>Sent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1B2D"/>
                          </a:solidFill>
                        </a:rPr>
                        <a:t>Recv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1B2D"/>
                          </a:solidFill>
                        </a:rPr>
                        <a:t>Drops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1B2D"/>
                          </a:solidFill>
                        </a:rPr>
                        <a:t>PDR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1B2D"/>
                          </a:solidFill>
                        </a:rPr>
                        <a:t>Latency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F3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Normal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Dijkstra / Hop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140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140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100%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18.7 ms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Heavy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Bellman-Ford / Hop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284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126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149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44.4%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226 ms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TCP vs UDP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Dijkstra / Weight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84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48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18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57.1%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B2D"/>
                          </a:solidFill>
                        </a:rPr>
                        <a:t>156.7 ms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457200" y="3291840"/>
          <a:ext cx="5486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17920" y="3291840"/>
          <a:ext cx="5486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and Remaining 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About 65–70% complete; the rest is validation, evidence and polish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72768"/>
            <a:ext cx="5120640" cy="435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34D399"/>
                </a:solidFill>
              </a:rPr>
              <a:t>Working now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 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1B2D"/>
                </a:solidFill>
              </a:rPr>
              <a:t>Topology editor, graph model, save/load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1B2D"/>
                </a:solidFill>
              </a:rPr>
              <a:t>Dijkstra and Bellman-Ford with live benchmark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1B2D"/>
                </a:solidFill>
              </a:rPr>
              <a:t>Hop, Weight and Dynamic cost modes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1B2D"/>
                </a:solidFill>
              </a:rPr>
              <a:t>CBR, Bursty, TCP and Poisson generators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1B2D"/>
                </a:solidFill>
              </a:rPr>
              <a:t>Queues, tail-drop, packet animation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1B2D"/>
                </a:solidFill>
              </a:rPr>
              <a:t>Live charts, status bar, CSV export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1B2D"/>
                </a:solidFill>
              </a:rPr>
              <a:t>Normal, Heavy and TCP vs UDP runs demonstrated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572768"/>
            <a:ext cx="5120640" cy="435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59E0B"/>
                </a:solidFill>
              </a:rPr>
              <a:t>Planned for the final review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 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01168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1B2D"/>
                </a:solidFill>
              </a:rPr>
              <a:t>Link-failure demo with measured rerouting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1B2D"/>
                </a:solidFill>
              </a:rPr>
              <a:t>High-loss scenario results (PDR vs loss rate)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1B2D"/>
                </a:solidFill>
              </a:rPr>
              <a:t>M/M/1 queueing validation: measured vs theory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1B2D"/>
                </a:solidFill>
              </a:rPr>
              <a:t>Link utilisation heatmap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1B2D"/>
                </a:solidFill>
              </a:rPr>
              <a:t>Stress test on larger topologies (50+ nodes)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A1B2D"/>
                </a:solidFill>
              </a:rPr>
              <a:t>Full CSV analysis and final report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Routing decisions are now observable, measurable and experimentally testable.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670048"/>
            <a:ext cx="32461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E7490"/>
                </a:solidFill>
              </a:rPr>
              <a:t>Observable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Packets, queues and routes animate live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51960" y="256032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34840" y="2670048"/>
            <a:ext cx="32461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E7490"/>
                </a:solidFill>
              </a:rPr>
              <a:t>Measurable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Latency, throughput, PDR, queue depth, cwnd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46720" y="256032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0" y="2670048"/>
            <a:ext cx="32461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E7490"/>
                </a:solidFill>
              </a:rPr>
              <a:t>Testable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A1B2D"/>
                </a:solidFill>
              </a:rPr>
              <a:t>Switch algorithms and cost modes, run 6 presets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</a:rPr>
              <a:t>THANK YOU   Questions &amp; Discussion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Sim Dark">
  <a:themeElements>
    <a:clrScheme name="NetSim Dark">
      <a:dk1>
        <a:srgbClr val="0A1B2D"/>
      </a:dk1>
      <a:lt1>
        <a:srgbClr val="F1F5F9"/>
      </a:lt1>
      <a:dk2>
        <a:srgbClr val="12263B"/>
      </a:dk2>
      <a:lt2>
        <a:srgbClr val="E2E8F0"/>
      </a:lt2>
      <a:accent1>
        <a:srgbClr val="22D3EE"/>
      </a:accent1>
      <a:accent2>
        <a:srgbClr val="34D399"/>
      </a:accent2>
      <a:accent3>
        <a:srgbClr val="F59E0B"/>
      </a:accent3>
      <a:accent4>
        <a:srgbClr val="3B82F6"/>
      </a:accent4>
      <a:accent5>
        <a:srgbClr val="EF4444"/>
      </a:accent5>
      <a:accent6>
        <a:srgbClr val="A78BFA"/>
      </a:accent6>
      <a:hlink>
        <a:srgbClr val="22D3EE"/>
      </a:hlink>
      <a:folHlink>
        <a:srgbClr val="A78BFA"/>
      </a:folHlink>
    </a:clrScheme>
    <a:fontScheme name="NetSim Dar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2026-10-13T10:12:27Z</dcterms:created>
  <dcterms:modified xsi:type="dcterms:W3CDTF">2026-10-13T10:12:27Z</dcterms:modified>
</cp:coreProperties>
</file>